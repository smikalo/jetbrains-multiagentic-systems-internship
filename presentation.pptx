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Development Practices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Open-Source Repositories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Tooling, and Productivity — An Empirical Study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Internship — Task 1  |  February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129,134 repos  ·  73,543 survey responses  ·  6 data source classes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prevalent is AI agent adoption by project age?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47088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84708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competitive structure of the tooling market?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96896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968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59689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configuration conventions are gaining traction?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46704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34670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rigorous studies show about productivity?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96512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96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09651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automated SE capability improving?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Convergent Mixed-Methods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Mining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129,134 GitHub projects (arXiv:2601.18341)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Surveys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+ JetBrains (73,543 responses)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data from GitHub, Anthropic, Cursor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788920"/>
            <a:ext cx="260604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Registries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383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+ npm monthly downloads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7889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78892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3383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 leaderboard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7889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788920"/>
            <a:ext cx="260604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Signals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383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forks, HN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RQ1: Agent Adoption by Project Age</a:t>
            </a:r>
            <a:endParaRPr lang="en-US" sz="2400" dirty="0"/>
          </a:p>
        </p:txBody>
      </p:sp>
      <p:pic>
        <p:nvPicPr>
          <p:cNvPr id="3" name="Image 0" descr="/home/claude/agentic-dev-study/output/figures/fig1_adoption_by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383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0" y="10058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263640" y="1078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21.17%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6364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&lt; 1 yr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219456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4.69%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636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&gt; 10 yr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338328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63640" y="3456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−0.86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6364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Age–adoption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RQ2: Three-Way Oligopoly (HHI = 5,801)</a:t>
            </a:r>
            <a:endParaRPr lang="en-US" sz="2400" dirty="0"/>
          </a:p>
        </p:txBody>
      </p:sp>
      <p:pic>
        <p:nvPicPr>
          <p:cNvPr id="3" name="Image 0" descr="/home/claude/agentic-dev-study/output/figures/fig2_platform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303520" cy="36576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05840"/>
          <a:ext cx="3108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$2.5B*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 inst.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Windsurf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76072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*Anthropic total ARR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76072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= 93.8% of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&gt; 2,500 = highly concentrated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RQ3: AGENTS.md Leads Volume, CLAUDE.md Leads Intensity</a:t>
            </a:r>
            <a:endParaRPr lang="en-US" sz="2200" dirty="0"/>
          </a:p>
        </p:txBody>
      </p:sp>
      <p:pic>
        <p:nvPicPr>
          <p:cNvPr id="3" name="Image 0" descr="/home/claude/agentic-dev-study/output/figures/fig3_config_ado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30352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0" y="1005840"/>
            <a:ext cx="3017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893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89320" y="15087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60K+ repos, cross-platform standard (Linux Foundation)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 repos, 24.1h median update interval (highest intensity)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repos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three major formats 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RQ4: The Productivity Paradox</a:t>
            </a:r>
            <a:endParaRPr lang="en-US" sz="2400" dirty="0"/>
          </a:p>
        </p:txBody>
      </p:sp>
      <p:pic>
        <p:nvPicPr>
          <p:cNvPr id="3" name="Image 0" descr="/home/claude/agentic-dev-study/output/figures/fig4_productivity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1005840"/>
            <a:ext cx="2926080" cy="22860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8076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74.8 pp spread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80760" y="1645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+55.8% (lab RCT)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−19% (field RCT)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METR: devs 19% slower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believed 20% faster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 &amp; experience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outcomes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RQ5: Near-Exponential Capability Growth</a:t>
            </a:r>
            <a:endParaRPr lang="en-US" sz="2400" dirty="0"/>
          </a:p>
        </p:txBody>
      </p:sp>
      <p:pic>
        <p:nvPicPr>
          <p:cNvPr id="3" name="Image 0" descr="/home/claude/agentic-dev-study/output/figures/fig6_sweb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383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0" y="10058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263640" y="1078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19.5×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6364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21 months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219456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0.95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636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log-linear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338328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63640" y="3456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0.004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6364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Tool Ecosystem &amp; Beads</a:t>
            </a:r>
            <a:endParaRPr lang="en-US" sz="2400" dirty="0"/>
          </a:p>
        </p:txBody>
      </p:sp>
      <p:pic>
        <p:nvPicPr>
          <p:cNvPr id="3" name="Image 0" descr="/home/claude/agentic-dev-study/output/figures/fig7_tool_st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389120" cy="2743200"/>
          </a:xfrm>
          <a:prstGeom prst="rect">
            <a:avLst/>
          </a:prstGeom>
        </p:spPr>
      </p:pic>
      <p:pic>
        <p:nvPicPr>
          <p:cNvPr id="4" name="Image 1" descr="/home/claude/agentic-dev-study/output/figures/fig8_beads_ecosyst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97680" cy="2743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Beads: 3-layer architecture (CLI → SQLite → JSONL/Git) · 240K lines Go · 175 commands · 15 community tools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Town: Multi-agent orchestrator built on Beads — formulas, gates, slots, wisps, swarm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058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↓ with project 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05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−0.86, p = 0.064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005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83080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830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varies by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1783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−19% to +55.8%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7830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560320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5603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5603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vol / CLAUDE.md maint.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2560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vs 24.1h updates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37560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3375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337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Three-platform oligopoly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3337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= 5,801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3375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114800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1148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114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log-linear growth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0.95, p = 0.004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114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JetBrains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1247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AGENTS.md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2704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60K+ repos use it. Cross-platform standard backed by Linux Foundation. IntelliJ IDEs should parse, validate, and auto-generate these files.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50008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95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82549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Beads-style tools solve the '50 First Dates' problem. IDE hooks for .beads/ directories, dependency visualization, and agent onboarding flows.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48456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941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7216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Benchmark-Aware AI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23944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scores growing 19.5× in 21 months. IDE AI features should track this capability frontier and adapt task delegation accordingly.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4864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15.85–22.60% of active GitHub projects now use AI coding agents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29968"/>
            <a:ext cx="768096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29968"/>
            <a:ext cx="54864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2996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Three-platform oligopoly (HHI 5,801) with multi-tool usage (&gt;1.6 agents/project)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88336"/>
            <a:ext cx="768096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88336"/>
            <a:ext cx="54864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8833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ranges −19% to +55.8% — context and task type dominate outcomes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346704"/>
            <a:ext cx="768096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346704"/>
            <a:ext cx="54864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4670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capability growing near-exponentially (19.5× in 21 months, p=0.004)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05072"/>
            <a:ext cx="768096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005072"/>
            <a:ext cx="54864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050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emerging as cross-platform standard; Beads pioneers 'agentic memory'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and data are open-source  ·  python src/analyze.py regenerates every result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Development Practices: An Empirical Study</dc:title>
  <dc:subject>PptxGenJS Presentation</dc:subject>
  <dc:creator>JetBrains Internship Candidate</dc:creator>
  <cp:lastModifiedBy>JetBrains Internship Candidate</cp:lastModifiedBy>
  <cp:revision>1</cp:revision>
  <dcterms:created xsi:type="dcterms:W3CDTF">2026-02-13T13:08:37Z</dcterms:created>
  <dcterms:modified xsi:type="dcterms:W3CDTF">2026-02-13T13:08:37Z</dcterms:modified>
</cp:coreProperties>
</file>